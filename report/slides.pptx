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8" r:id="rId3"/>
    <p:sldId id="421" r:id="rId4"/>
    <p:sldId id="425" r:id="rId5"/>
    <p:sldId id="430" r:id="rId6"/>
    <p:sldId id="459" r:id="rId7"/>
    <p:sldId id="428" r:id="rId8"/>
    <p:sldId id="426" r:id="rId9"/>
    <p:sldId id="461" r:id="rId10"/>
    <p:sldId id="460" r:id="rId11"/>
    <p:sldId id="462" r:id="rId12"/>
    <p:sldId id="463" r:id="rId13"/>
    <p:sldId id="464" r:id="rId14"/>
    <p:sldId id="435" r:id="rId15"/>
    <p:sldId id="465" r:id="rId16"/>
    <p:sldId id="466" r:id="rId17"/>
    <p:sldId id="467" r:id="rId18"/>
    <p:sldId id="449" r:id="rId19"/>
    <p:sldId id="453" r:id="rId20"/>
    <p:sldId id="469" r:id="rId21"/>
    <p:sldId id="470" r:id="rId22"/>
    <p:sldId id="284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7469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5" orient="horz" pos="3974" userDrawn="1">
          <p15:clr>
            <a:srgbClr val="A4A3A4"/>
          </p15:clr>
        </p15:guide>
        <p15:guide id="6" orient="horz" pos="2387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8" pos="211" userDrawn="1">
          <p15:clr>
            <a:srgbClr val="A4A3A4"/>
          </p15:clr>
        </p15:guide>
        <p15:guide id="9" orient="horz" pos="2614" userDrawn="1">
          <p15:clr>
            <a:srgbClr val="A4A3A4"/>
          </p15:clr>
        </p15:guide>
        <p15:guide id="10" orient="horz" pos="1026" userDrawn="1">
          <p15:clr>
            <a:srgbClr val="A4A3A4"/>
          </p15:clr>
        </p15:guide>
        <p15:guide id="11" pos="2026" userDrawn="1">
          <p15:clr>
            <a:srgbClr val="A4A3A4"/>
          </p15:clr>
        </p15:guide>
        <p15:guide id="12" pos="5654" userDrawn="1">
          <p15:clr>
            <a:srgbClr val="A4A3A4"/>
          </p15:clr>
        </p15:guide>
        <p15:guide id="13" orient="horz" pos="3748" userDrawn="1">
          <p15:clr>
            <a:srgbClr val="A4A3A4"/>
          </p15:clr>
        </p15:guide>
        <p15:guide id="14" pos="3749" userDrawn="1">
          <p15:clr>
            <a:srgbClr val="A4A3A4"/>
          </p15:clr>
        </p15:guide>
        <p15:guide id="15" pos="3931" userDrawn="1">
          <p15:clr>
            <a:srgbClr val="A4A3A4"/>
          </p15:clr>
        </p15:guide>
        <p15:guide id="16" pos="7378" userDrawn="1">
          <p15:clr>
            <a:srgbClr val="A4A3A4"/>
          </p15:clr>
        </p15:guide>
        <p15:guide id="17" pos="3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AA"/>
    <a:srgbClr val="FFFFFF"/>
    <a:srgbClr val="53ADFF"/>
    <a:srgbClr val="89FFCA"/>
    <a:srgbClr val="00A55B"/>
    <a:srgbClr val="B3DBFF"/>
    <a:srgbClr val="000000"/>
    <a:srgbClr val="0070C0"/>
    <a:srgbClr val="95B2DF"/>
    <a:srgbClr val="FF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E171933-4619-4E11-9A3F-F7608DF75F80}" styleName="보통 스타일 1 - 강조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3333" autoAdjust="0"/>
  </p:normalViewPr>
  <p:slideViewPr>
    <p:cSldViewPr snapToGrid="0" showGuides="1">
      <p:cViewPr varScale="1">
        <p:scale>
          <a:sx n="87" d="100"/>
          <a:sy n="87" d="100"/>
        </p:scale>
        <p:origin x="480" y="77"/>
      </p:cViewPr>
      <p:guideLst>
        <p:guide orient="horz" pos="572"/>
        <p:guide pos="7469"/>
        <p:guide orient="horz" pos="799"/>
        <p:guide orient="horz" pos="2160"/>
        <p:guide orient="horz" pos="3974"/>
        <p:guide orient="horz" pos="2387"/>
        <p:guide pos="3840"/>
        <p:guide pos="211"/>
        <p:guide orient="horz" pos="2614"/>
        <p:guide orient="horz" pos="1026"/>
        <p:guide pos="2026"/>
        <p:guide pos="5654"/>
        <p:guide orient="horz" pos="3748"/>
        <p:guide pos="3749"/>
        <p:guide pos="3931"/>
        <p:guide pos="7378"/>
        <p:guide pos="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439A2-7236-49FF-9C30-580D0E3032B4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AC2885-A1D9-437C-A34A-E501EA2920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229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6787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003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B4E7-FB36-5FD7-8EB5-73542A9FC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FCB4FA-2892-2620-B084-05B03C68C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EA46D1-3C73-04B4-9102-36DFED1121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F16B70-438F-1A06-CD29-CFC49B4ED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158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6951-E23D-565D-3121-67A43BE66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3AE5C88-61C6-0031-C002-36E577F37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9FD6B0-84A4-BEDD-3D90-728964F3F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BF3FC7-AC3D-9ADA-9344-1E3978E57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838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A0185-027F-37A6-FB86-9C8C524D4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9ADA65-92DC-CA3D-BE85-E260DEB5B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C2FC52-122F-B04A-B6E6-603946586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7DE34E-5566-8521-DDBC-809C6A035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8195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A0185-027F-37A6-FB86-9C8C524D4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69ADA65-92DC-CA3D-BE85-E260DEB5B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9C2FC52-122F-B04A-B6E6-6039465862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7DE34E-5566-8521-DDBC-809C6A035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060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A7DC-BFFE-5586-4C0B-5CC31573F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F4EFA1-0FE0-8335-E13B-B9E290081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0F9DFC-E37F-B326-E926-58AD33CE00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C2DB77-DD91-5507-0BC6-14E02F7F2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536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E203-FC33-C7E9-4EF0-1AB48787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C28857-0449-82D7-141F-D3EAA040B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FFAE49-55AB-8DBC-D50F-2FD511627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0CF53-6F46-BACF-82C5-2F7A3BCA0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9998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E203-FC33-C7E9-4EF0-1AB48787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C28857-0449-82D7-141F-D3EAA040B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FFAE49-55AB-8DBC-D50F-2FD511627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0CF53-6F46-BACF-82C5-2F7A3BCA0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613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E203-FC33-C7E9-4EF0-1AB48787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C28857-0449-82D7-141F-D3EAA040B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FFAE49-55AB-8DBC-D50F-2FD511627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0CF53-6F46-BACF-82C5-2F7A3BCA0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947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E203-FC33-C7E9-4EF0-1AB48787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C28857-0449-82D7-141F-D3EAA040B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FFAE49-55AB-8DBC-D50F-2FD511627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0CF53-6F46-BACF-82C5-2F7A3BCA0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19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E203-FC33-C7E9-4EF0-1AB48787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C28857-0449-82D7-141F-D3EAA040B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FFAE49-55AB-8DBC-D50F-2FD511627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0CF53-6F46-BACF-82C5-2F7A3BCA0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776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CE203-FC33-C7E9-4EF0-1AB48787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C28857-0449-82D7-141F-D3EAA040B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FFAE49-55AB-8DBC-D50F-2FD511627C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20CF53-6F46-BACF-82C5-2F7A3BCA0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874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E4C33-A06D-700A-7900-987BE9430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63BF93-5FFD-3C99-E04B-1E412CD181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98119A-3828-4646-B801-93FDCB660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C96DB-5F70-4A26-567E-CCDE671FC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481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FBD72-84CD-3EE3-3C17-87B75CCC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18FF0C-776C-C4EA-E49A-125D054FE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54E255-DD3B-7A63-E2ED-F3C33CEAD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72F39C-982E-4654-0A69-334CD0B26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707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FBD72-84CD-3EE3-3C17-87B75CCC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18FF0C-776C-C4EA-E49A-125D054FE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54E255-DD3B-7A63-E2ED-F3C33CEAD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72F39C-982E-4654-0A69-334CD0B26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042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FBD72-84CD-3EE3-3C17-87B75CCC4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18FF0C-776C-C4EA-E49A-125D054FE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A54E255-DD3B-7A63-E2ED-F3C33CEAD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72F39C-982E-4654-0A69-334CD0B26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723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1205D-0BAA-97C7-3BCD-71F5186D4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99D7B-5D0B-E4EB-69E5-18898B03A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DF4AE7-EE9E-C429-4542-4489C20162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DB282B-573D-E17E-F8B4-9261B3237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6335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6106D-A5FD-79FC-B0CC-795C7468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4427C8-FE2B-50DA-34E0-F70923BE9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FF1530-F8C5-A3FA-6F40-93C5D2E22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0BA13C-43DF-1EF8-0C4F-E52402785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341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6106D-A5FD-79FC-B0CC-795C7468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4427C8-FE2B-50DA-34E0-F70923BE9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FF1530-F8C5-A3FA-6F40-93C5D2E22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0BA13C-43DF-1EF8-0C4F-E52402785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063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6106D-A5FD-79FC-B0CC-795C7468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44427C8-FE2B-50DA-34E0-F70923BE9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FF1530-F8C5-A3FA-6F40-93C5D2E225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0BA13C-43DF-1EF8-0C4F-E52402785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9357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AC2885-A1D9-437C-A34A-E501EA29207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274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8A0FE-8CA6-C909-E9F7-C6AA38083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17C180-68CE-0FCE-6FE5-114E60A1D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F7E8C9-5CE8-44B0-B1CB-E9138CE0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B869B0-1FF3-21DA-936C-FDE36DFAF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9B8AE0-14C4-3292-C933-BDC7FB643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955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77C4D8-0926-4C4E-6C3A-F3B5ABB32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D4946F-6F0D-C9DF-9326-6131A030A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7D99F8-25A2-7CF7-DD57-3231017E1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AE8CB-3B6F-E76F-AF80-8E73E75D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BA38D-C9FA-EB92-B27D-2999B04B5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394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656032-430F-2414-7CF3-842DA25C2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ADA65E-BFA7-E366-70BB-12002D25FA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51A639-D2CC-A345-9CA8-B09652517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60BC0D-659C-95DF-D4EB-3B9AFC29D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28F5DC-CD02-4266-BB44-B98FAF1D7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5865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CF72A-3C66-F98A-F8CC-D1FAEF315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CD21D0-6C9D-DFB6-68B0-84732CA026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23A0B4-58CC-9D67-58D0-932AF0F4D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49D666-ED53-DF24-9749-60B4C405D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43180E-F526-A9BE-401F-768847967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DE0042-EFD1-FFDB-A2C8-892BA231D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320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24895-F41B-1254-C112-1E2896166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36BA23-445A-0825-8FCB-EA4CA6B96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4457FE-821C-8F04-5AFF-6F3451307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4DF718E-038E-E917-4D1D-1F16BB6447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50D66E9-209A-FA7A-9AA4-AB5FD7CDA9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713DBBE-A85D-AF10-C63C-D718C47C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18BA337-F56C-1F8C-C2CD-D957EA68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C11953D-B07A-AB83-2382-B9EAACB8E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75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A67B06-4AC3-1463-CC65-2D2AA2C39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454FC40-DACE-E20C-F292-2A292BFC5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AA7E08-FC95-9A63-6133-6D5E98BBD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D3E29D-D28C-06F2-C3C3-713F9DA5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370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0F34A4F-FE30-CA96-3C73-92992B20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D97D9E-BD96-BEAF-C0E0-61BF88265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150BD5-FCAA-B515-484B-10266D53B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161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4F3FD-10C7-B4B4-79C3-B88749954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FF95FA-66A1-2CC6-3578-7C0615809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4C5F33D-A6B7-9170-D2AF-46DEE5D2C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BF5AB9-0D40-D89B-C66A-857DC9224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1D7981-4140-41E7-C8A8-351B2887E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C94D3E-35D7-65DA-6273-7B52588FE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87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2B28CB-314B-0B8C-2158-CF64C9936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EADDD1-67B6-BD2F-91DC-F9AA6CECCA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113757-C304-92D9-CA2A-305AD0798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B4C4A1-EC33-FF69-1007-A5A74B86C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344EE44-D7FC-298A-1879-13073A4DF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F96D4C-B2AE-3F9F-70AB-A08CAB46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090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5DD22D-4470-FC1C-0E08-055BFE3A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473A56-912B-D178-2035-588E30B8E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588912-736F-3234-1D45-B33B08541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3D7F5E-5B4D-1430-30CE-B79F20933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11A3ED-0EF7-BFDC-0F7B-B88D29C9F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81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54B2431-897B-9831-7917-5449801489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F088A3-B962-BF07-24E6-E4F3F6F2B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49F2A-5B98-5307-8656-426BE7897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B1E804-A5F0-9506-FB84-221183DC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623E10-890A-4BCF-D158-1D87AE75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43938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4EA3BC-EA05-A3C2-4B74-5ED87F5F2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CF5667-0CC3-18D7-8A68-24EAE3BA6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5DB9C5-008D-4FBD-8D32-3E46DC7E50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5B8DD-3E84-48DD-A95B-2CB39920E4AC}" type="datetimeFigureOut">
              <a:rPr lang="ko-KR" altLang="en-US" smtClean="0"/>
              <a:t>2025-06-19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FF4824-A1D5-1F85-B60E-AC6FA4CBA0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66B422-30F1-6A66-5C08-13B9F64AA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9CB426-5FB5-462A-ABD2-485F8B7C93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984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jp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8D89E62-B580-D5B6-12F9-4D1A837C485D}"/>
              </a:ext>
            </a:extLst>
          </p:cNvPr>
          <p:cNvSpPr/>
          <p:nvPr/>
        </p:nvSpPr>
        <p:spPr>
          <a:xfrm>
            <a:off x="0" y="0"/>
            <a:ext cx="193674" cy="68580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 descr="텍스트, 폰트, 로고, 상징이(가) 표시된 사진&#10;&#10;자동 생성된 설명">
            <a:extLst>
              <a:ext uri="{FF2B5EF4-FFF2-40B4-BE49-F238E27FC236}">
                <a16:creationId xmlns:a16="http://schemas.microsoft.com/office/drawing/2014/main" id="{E34731E3-2FFE-9353-74C2-579B500CA070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331" y="5296919"/>
            <a:ext cx="2349337" cy="591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7BC7FB-26CF-EF13-6999-B7E3E6468D52}"/>
              </a:ext>
            </a:extLst>
          </p:cNvPr>
          <p:cNvSpPr txBox="1"/>
          <p:nvPr/>
        </p:nvSpPr>
        <p:spPr>
          <a:xfrm>
            <a:off x="790611" y="2636193"/>
            <a:ext cx="2406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A55B"/>
                </a:solidFill>
                <a:latin typeface="+mj-lt"/>
                <a:ea typeface="HY헤드라인M" panose="02030600000101010101" pitchFamily="18" charset="-127"/>
              </a:rPr>
              <a:t>AI class project</a:t>
            </a:r>
            <a:endParaRPr lang="ko-KR" altLang="en-US" b="1" dirty="0">
              <a:solidFill>
                <a:srgbClr val="00A55B"/>
              </a:solidFill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4C5E63-9083-C1DB-7725-7A308E1959ED}"/>
              </a:ext>
            </a:extLst>
          </p:cNvPr>
          <p:cNvSpPr txBox="1"/>
          <p:nvPr/>
        </p:nvSpPr>
        <p:spPr>
          <a:xfrm>
            <a:off x="5025038" y="5888604"/>
            <a:ext cx="2141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b="1" dirty="0" smtClean="0">
                <a:latin typeface="+mj-lt"/>
                <a:ea typeface="HY헤드라인M" panose="02030600000101010101" pitchFamily="18" charset="-127"/>
              </a:rPr>
              <a:t>202155160 </a:t>
            </a:r>
            <a:r>
              <a:rPr lang="ko-KR" altLang="en-US" b="1" dirty="0" smtClean="0">
                <a:latin typeface="+mj-lt"/>
                <a:ea typeface="HY헤드라인M" panose="02030600000101010101" pitchFamily="18" charset="-127"/>
              </a:rPr>
              <a:t>유진영</a:t>
            </a:r>
            <a:endParaRPr lang="ko-KR" altLang="en-US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4894FF-E328-48D2-21C9-0AEECFA8B053}"/>
              </a:ext>
            </a:extLst>
          </p:cNvPr>
          <p:cNvSpPr txBox="1"/>
          <p:nvPr/>
        </p:nvSpPr>
        <p:spPr>
          <a:xfrm>
            <a:off x="790611" y="1928307"/>
            <a:ext cx="80169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 err="1" smtClean="0">
                <a:solidFill>
                  <a:srgbClr val="005BAA"/>
                </a:solidFill>
                <a:latin typeface="+mj-lt"/>
                <a:ea typeface="HY헤드라인M" panose="02030600000101010101" pitchFamily="18" charset="-127"/>
              </a:rPr>
              <a:t>cGAN</a:t>
            </a:r>
            <a:r>
              <a:rPr lang="en-US" altLang="ko-KR" sz="4000" b="1" dirty="0" smtClean="0">
                <a:solidFill>
                  <a:srgbClr val="005BAA"/>
                </a:solidFill>
                <a:latin typeface="+mj-lt"/>
                <a:ea typeface="HY헤드라인M" panose="02030600000101010101" pitchFamily="18" charset="-127"/>
              </a:rPr>
              <a:t> </a:t>
            </a:r>
            <a:r>
              <a:rPr lang="ko-KR" altLang="en-US" sz="4000" b="1" dirty="0" smtClean="0">
                <a:solidFill>
                  <a:srgbClr val="005BAA"/>
                </a:solidFill>
                <a:latin typeface="+mj-lt"/>
                <a:ea typeface="HY헤드라인M" panose="02030600000101010101" pitchFamily="18" charset="-127"/>
              </a:rPr>
              <a:t>기반 입술 발색 이미지 생성</a:t>
            </a:r>
            <a:endParaRPr lang="ko-KR" altLang="en-US" sz="4000" b="1" dirty="0">
              <a:solidFill>
                <a:srgbClr val="005BAA"/>
              </a:solidFill>
              <a:latin typeface="+mj-lt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06488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8D89E62-B580-D5B6-12F9-4D1A837C485D}"/>
              </a:ext>
            </a:extLst>
          </p:cNvPr>
          <p:cNvSpPr/>
          <p:nvPr/>
        </p:nvSpPr>
        <p:spPr>
          <a:xfrm>
            <a:off x="0" y="0"/>
            <a:ext cx="193674" cy="6858000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A884C-CBFF-8D25-1790-377E3AE56322}"/>
              </a:ext>
            </a:extLst>
          </p:cNvPr>
          <p:cNvSpPr txBox="1"/>
          <p:nvPr/>
        </p:nvSpPr>
        <p:spPr>
          <a:xfrm>
            <a:off x="1363600" y="1839591"/>
            <a:ext cx="28028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b="1" dirty="0">
                <a:solidFill>
                  <a:srgbClr val="005BAA"/>
                </a:solidFill>
                <a:latin typeface="+mj-lt"/>
                <a:ea typeface="HY헤드라인M" panose="02030600000101010101" pitchFamily="18" charset="-127"/>
              </a:rPr>
              <a:t>Contents</a:t>
            </a:r>
            <a:endParaRPr lang="ko-KR" altLang="en-US" sz="4800" b="1" dirty="0">
              <a:solidFill>
                <a:srgbClr val="005BAA"/>
              </a:solidFill>
              <a:latin typeface="+mj-lt"/>
              <a:ea typeface="HY헤드라인M" panose="02030600000101010101" pitchFamily="18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7A9A06B6-3449-641B-ABFD-DDB371130D89}"/>
              </a:ext>
            </a:extLst>
          </p:cNvPr>
          <p:cNvGrpSpPr/>
          <p:nvPr/>
        </p:nvGrpSpPr>
        <p:grpSpPr>
          <a:xfrm>
            <a:off x="5340019" y="1124644"/>
            <a:ext cx="6128128" cy="4608711"/>
            <a:chOff x="5735516" y="1273293"/>
            <a:chExt cx="6128128" cy="46087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DA1CC6BF-B096-CA69-3B42-33D64F22A589}"/>
                </a:ext>
              </a:extLst>
            </p:cNvPr>
            <p:cNvSpPr txBox="1"/>
            <p:nvPr/>
          </p:nvSpPr>
          <p:spPr>
            <a:xfrm>
              <a:off x="5739127" y="1273293"/>
              <a:ext cx="6124517" cy="71494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altLang="ko-KR" sz="2400" b="1" dirty="0">
                  <a:latin typeface="+mj-lt"/>
                  <a:ea typeface="HY헤드라인M" panose="02030600000101010101" pitchFamily="18" charset="-127"/>
                </a:rPr>
                <a:t>1. </a:t>
              </a:r>
              <a:r>
                <a:rPr lang="ko-KR" altLang="en-US" sz="2400" b="1" dirty="0" smtClean="0">
                  <a:latin typeface="+mj-lt"/>
                  <a:ea typeface="HY헤드라인M" panose="02030600000101010101" pitchFamily="18" charset="-127"/>
                </a:rPr>
                <a:t>문제 정의</a:t>
              </a:r>
              <a:endParaRPr lang="ko-KR" altLang="en-US" sz="2400" b="1" dirty="0">
                <a:latin typeface="+mj-lt"/>
                <a:ea typeface="HY헤드라인M" panose="02030600000101010101" pitchFamily="18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CCD985-C137-EDD4-C2C5-CB0BC6E4978D}"/>
                </a:ext>
              </a:extLst>
            </p:cNvPr>
            <p:cNvSpPr txBox="1"/>
            <p:nvPr/>
          </p:nvSpPr>
          <p:spPr>
            <a:xfrm>
              <a:off x="5735516" y="2569619"/>
              <a:ext cx="6121522" cy="714948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altLang="ko-KR" sz="2400" b="1" dirty="0">
                  <a:latin typeface="+mj-lt"/>
                  <a:ea typeface="HY헤드라인M" panose="02030600000101010101" pitchFamily="18" charset="-127"/>
                </a:rPr>
                <a:t>2. </a:t>
              </a:r>
              <a:r>
                <a:rPr lang="ko-KR" altLang="en-US" sz="2400" b="1" dirty="0" smtClean="0">
                  <a:latin typeface="+mj-lt"/>
                  <a:ea typeface="HY헤드라인M" panose="02030600000101010101" pitchFamily="18" charset="-127"/>
                </a:rPr>
                <a:t>데이터 수집 </a:t>
              </a:r>
              <a:r>
                <a:rPr lang="en-US" altLang="ko-KR" sz="2400" b="1" dirty="0" smtClean="0">
                  <a:latin typeface="+mj-lt"/>
                  <a:ea typeface="HY헤드라인M" panose="02030600000101010101" pitchFamily="18" charset="-127"/>
                </a:rPr>
                <a:t>&amp; </a:t>
              </a:r>
              <a:r>
                <a:rPr lang="ko-KR" altLang="en-US" sz="2400" b="1" dirty="0" smtClean="0">
                  <a:latin typeface="+mj-lt"/>
                  <a:ea typeface="HY헤드라인M" panose="02030600000101010101" pitchFamily="18" charset="-127"/>
                </a:rPr>
                <a:t>전처리</a:t>
              </a:r>
              <a:endParaRPr lang="ko-KR" altLang="en-US" sz="2400" b="1" dirty="0">
                <a:latin typeface="+mj-lt"/>
                <a:ea typeface="HY헤드라인M" panose="02030600000101010101" pitchFamily="18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0F23C3A-FFCF-5AE0-59F1-B1168D91BA64}"/>
                </a:ext>
              </a:extLst>
            </p:cNvPr>
            <p:cNvSpPr txBox="1"/>
            <p:nvPr/>
          </p:nvSpPr>
          <p:spPr>
            <a:xfrm>
              <a:off x="5742122" y="3870733"/>
              <a:ext cx="6121522" cy="71494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altLang="ko-KR" sz="2400" b="1" spc="-100" dirty="0">
                  <a:latin typeface="+mj-lt"/>
                  <a:ea typeface="HY헤드라인M" panose="02030600000101010101" pitchFamily="18" charset="-127"/>
                </a:rPr>
                <a:t>3. </a:t>
              </a:r>
              <a:r>
                <a:rPr lang="ko-KR" altLang="en-US" sz="2400" b="1" spc="-100" dirty="0" smtClean="0">
                  <a:latin typeface="+mj-lt"/>
                  <a:ea typeface="HY헤드라인M" panose="02030600000101010101" pitchFamily="18" charset="-127"/>
                </a:rPr>
                <a:t>모델 </a:t>
              </a:r>
              <a:r>
                <a:rPr lang="en-US" altLang="ko-KR" sz="2400" b="1" spc="-100" dirty="0" smtClean="0">
                  <a:latin typeface="+mj-lt"/>
                  <a:ea typeface="HY헤드라인M" panose="02030600000101010101" pitchFamily="18" charset="-127"/>
                </a:rPr>
                <a:t> </a:t>
              </a:r>
              <a:endParaRPr lang="ko-KR" altLang="en-US" sz="2400" b="1" spc="-100" dirty="0">
                <a:latin typeface="+mj-lt"/>
                <a:ea typeface="HY헤드라인M" panose="02030600000101010101" pitchFamily="18" charset="-127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D08A3B3-32EF-B6D1-0763-8B2039ABB948}"/>
                </a:ext>
              </a:extLst>
            </p:cNvPr>
            <p:cNvSpPr txBox="1"/>
            <p:nvPr/>
          </p:nvSpPr>
          <p:spPr>
            <a:xfrm>
              <a:off x="5742122" y="5167057"/>
              <a:ext cx="6121522" cy="714947"/>
            </a:xfrm>
            <a:prstGeom prst="rect">
              <a:avLst/>
            </a:prstGeom>
            <a:noFill/>
          </p:spPr>
          <p:txBody>
            <a:bodyPr wrap="square" rtlCol="0" anchor="ctr">
              <a:noAutofit/>
            </a:bodyPr>
            <a:lstStyle/>
            <a:p>
              <a:r>
                <a:rPr lang="en-US" altLang="ko-KR" sz="2400" b="1" spc="-100" dirty="0">
                  <a:latin typeface="+mj-lt"/>
                  <a:ea typeface="HY헤드라인M" panose="02030600000101010101" pitchFamily="18" charset="-127"/>
                </a:rPr>
                <a:t>4. </a:t>
              </a:r>
              <a:r>
                <a:rPr lang="ko-KR" altLang="en-US" sz="2400" b="1" spc="-100" dirty="0" smtClean="0">
                  <a:latin typeface="+mj-lt"/>
                  <a:ea typeface="HY헤드라인M" panose="02030600000101010101" pitchFamily="18" charset="-127"/>
                </a:rPr>
                <a:t>결과 분석 </a:t>
              </a:r>
              <a:endParaRPr lang="ko-KR" altLang="en-US" sz="2400" b="1" spc="-100" dirty="0">
                <a:latin typeface="+mj-lt"/>
                <a:ea typeface="HY헤드라인M" panose="02030600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68414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5335B-ECC0-B5F7-4A23-EA2DDF709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BA1DE8AE-A5F2-A2C3-1B50-12E7A78463E0}"/>
              </a:ext>
            </a:extLst>
          </p:cNvPr>
          <p:cNvSpPr txBox="1"/>
          <p:nvPr/>
        </p:nvSpPr>
        <p:spPr>
          <a:xfrm>
            <a:off x="1064795" y="557952"/>
            <a:ext cx="1430200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9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19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D50D44-1977-D195-49C3-93B861FEA993}"/>
              </a:ext>
            </a:extLst>
          </p:cNvPr>
          <p:cNvSpPr txBox="1"/>
          <p:nvPr/>
        </p:nvSpPr>
        <p:spPr>
          <a:xfrm>
            <a:off x="3344767" y="2598003"/>
            <a:ext cx="6223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spc="-300" dirty="0" smtClean="0">
                <a:solidFill>
                  <a:schemeClr val="bg1"/>
                </a:solidFill>
                <a:latin typeface="+mn-ea"/>
              </a:rPr>
              <a:t>문제 정의</a:t>
            </a:r>
            <a:endParaRPr lang="en-US" altLang="ko-KR" sz="4800" b="1" spc="-3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B573F01-BE74-E948-81A0-25DD8CE6F9DC}"/>
              </a:ext>
            </a:extLst>
          </p:cNvPr>
          <p:cNvCxnSpPr>
            <a:cxnSpLocks/>
          </p:cNvCxnSpPr>
          <p:nvPr/>
        </p:nvCxnSpPr>
        <p:spPr>
          <a:xfrm>
            <a:off x="342900" y="3440520"/>
            <a:ext cx="118491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8A74336-8F7F-ACD1-8678-B701087FCCF8}"/>
              </a:ext>
            </a:extLst>
          </p:cNvPr>
          <p:cNvCxnSpPr>
            <a:cxnSpLocks/>
          </p:cNvCxnSpPr>
          <p:nvPr/>
        </p:nvCxnSpPr>
        <p:spPr>
          <a:xfrm>
            <a:off x="-21055" y="3689173"/>
            <a:ext cx="11889205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46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38B13-A0C9-CE86-C334-A797D275D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58F98676-1154-1029-89AE-A0342FD248DB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8C45D5-CB4E-49FB-CA31-87A1AA413DAE}"/>
              </a:ext>
            </a:extLst>
          </p:cNvPr>
          <p:cNvSpPr txBox="1"/>
          <p:nvPr/>
        </p:nvSpPr>
        <p:spPr>
          <a:xfrm>
            <a:off x="5961162" y="635295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1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C8DE2DA-A363-7CEC-2891-9114D223FAA3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153C2-88EB-1C97-10BD-1FEF90588957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1.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문제 정의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950015-2EBC-5F23-9A6B-FA5A1FA8913D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 smtClean="0">
                <a:latin typeface="+mj-ea"/>
                <a:ea typeface="+mj-ea"/>
              </a:rPr>
              <a:t>· </a:t>
            </a:r>
            <a:r>
              <a:rPr lang="ko-KR" altLang="en-US" sz="1400" b="1" dirty="0" smtClean="0">
                <a:latin typeface="+mj-ea"/>
                <a:ea typeface="+mj-ea"/>
              </a:rPr>
              <a:t>다양한 입술과 발색</a:t>
            </a:r>
            <a:endParaRPr lang="ko-KR" altLang="en-US" sz="1400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4" y="1624514"/>
            <a:ext cx="1800000" cy="1800000"/>
          </a:xfrm>
          <a:prstGeom prst="rect">
            <a:avLst/>
          </a:prstGeom>
        </p:spPr>
      </p:pic>
      <p:pic>
        <p:nvPicPr>
          <p:cNvPr id="7" name="그림 6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174" y="1624514"/>
            <a:ext cx="1800000" cy="1800000"/>
          </a:xfrm>
          <a:prstGeom prst="rect">
            <a:avLst/>
          </a:prstGeom>
        </p:spPr>
      </p:pic>
      <p:pic>
        <p:nvPicPr>
          <p:cNvPr id="16" name="그림 15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74" y="3424514"/>
            <a:ext cx="1800000" cy="1800000"/>
          </a:xfrm>
          <a:prstGeom prst="rect">
            <a:avLst/>
          </a:prstGeom>
        </p:spPr>
      </p:pic>
      <p:pic>
        <p:nvPicPr>
          <p:cNvPr id="21" name="그림 20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174" y="3424514"/>
            <a:ext cx="1800000" cy="180000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6909" y="2116752"/>
            <a:ext cx="2595665" cy="2595665"/>
          </a:xfrm>
          <a:prstGeom prst="rect">
            <a:avLst/>
          </a:prstGeom>
        </p:spPr>
      </p:pic>
      <p:pic>
        <p:nvPicPr>
          <p:cNvPr id="1026" name="Picture 2" descr="rom&amp;nd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827" y="2351933"/>
            <a:ext cx="2145161" cy="214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그림 26" descr="Clipart - icon-&lt;strong&gt;arrow&lt;/strong&gt;-right-blue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144" y="3171019"/>
            <a:ext cx="926951" cy="596916"/>
          </a:xfrm>
          <a:prstGeom prst="rect">
            <a:avLst/>
          </a:prstGeom>
          <a:noFill/>
        </p:spPr>
      </p:pic>
      <p:pic>
        <p:nvPicPr>
          <p:cNvPr id="30" name="그림 29" descr="Clipart - icon-&lt;strong&gt;arrow&lt;/strong&gt;-right-blue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0988" y="3186010"/>
            <a:ext cx="926952" cy="609464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C950015-2EBC-5F23-9A6B-FA5A1FA8913D}"/>
              </a:ext>
            </a:extLst>
          </p:cNvPr>
          <p:cNvSpPr txBox="1"/>
          <p:nvPr/>
        </p:nvSpPr>
        <p:spPr>
          <a:xfrm>
            <a:off x="1822345" y="5331977"/>
            <a:ext cx="1108565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ko-KR" altLang="en-US" sz="1400" b="1" dirty="0" smtClean="0">
                <a:latin typeface="+mj-ea"/>
                <a:ea typeface="+mj-ea"/>
              </a:rPr>
              <a:t>다양한 입</a:t>
            </a:r>
            <a:r>
              <a:rPr lang="ko-KR" altLang="en-US" sz="1400" b="1" dirty="0">
                <a:latin typeface="+mj-ea"/>
                <a:ea typeface="+mj-ea"/>
              </a:rPr>
              <a:t>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950015-2EBC-5F23-9A6B-FA5A1FA8913D}"/>
              </a:ext>
            </a:extLst>
          </p:cNvPr>
          <p:cNvSpPr txBox="1"/>
          <p:nvPr/>
        </p:nvSpPr>
        <p:spPr>
          <a:xfrm>
            <a:off x="9860458" y="4839099"/>
            <a:ext cx="1108565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ko-KR" altLang="en-US" sz="1400" b="1" dirty="0" smtClean="0">
                <a:latin typeface="+mj-ea"/>
                <a:ea typeface="+mj-ea"/>
              </a:rPr>
              <a:t>브랜드 </a:t>
            </a:r>
            <a:r>
              <a:rPr lang="ko-KR" altLang="en-US" sz="1400" b="1" dirty="0" err="1" smtClean="0">
                <a:latin typeface="+mj-ea"/>
                <a:ea typeface="+mj-ea"/>
              </a:rPr>
              <a:t>발색샷</a:t>
            </a:r>
            <a:endParaRPr lang="ko-KR" altLang="en-US" sz="1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901034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09C49-8FEF-2007-ABA3-C59FED67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761716-EFFE-DC40-B5C3-E2B8451AA0DA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7C069F-214E-C942-333D-A5AFC4BE35E4}"/>
              </a:ext>
            </a:extLst>
          </p:cNvPr>
          <p:cNvSpPr txBox="1"/>
          <p:nvPr/>
        </p:nvSpPr>
        <p:spPr>
          <a:xfrm>
            <a:off x="5961162" y="635295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2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601DB6-29FA-6DDB-2F28-A6F60E9C4AF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432F7-555B-2290-7164-D16060A5DED1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1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문제 정의 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D3E09A-705D-38DF-2A63-24B61E124624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· </a:t>
            </a:r>
            <a:r>
              <a:rPr lang="ko-KR" altLang="en-US" sz="1400" b="1" dirty="0" smtClean="0">
                <a:latin typeface="+mj-ea"/>
                <a:ea typeface="+mj-ea"/>
              </a:rPr>
              <a:t>다양한 입술과 발색</a:t>
            </a:r>
            <a:endParaRPr lang="ko-KR" altLang="en-US" sz="1400" b="1" dirty="0"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3" y="1626560"/>
            <a:ext cx="5322989" cy="377204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613" y="1626560"/>
            <a:ext cx="3778244" cy="37782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D3E09A-705D-38DF-2A63-24B61E124624}"/>
              </a:ext>
            </a:extLst>
          </p:cNvPr>
          <p:cNvSpPr txBox="1"/>
          <p:nvPr/>
        </p:nvSpPr>
        <p:spPr>
          <a:xfrm>
            <a:off x="2572057" y="5433238"/>
            <a:ext cx="848151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b="1" dirty="0" smtClean="0">
                <a:latin typeface="+mn-ea"/>
              </a:rPr>
              <a:t>Review</a:t>
            </a:r>
            <a:r>
              <a:rPr lang="en-US" altLang="ko-KR" sz="1400" b="1" dirty="0" smtClean="0">
                <a:latin typeface="+mj-lt"/>
                <a:ea typeface="HY헤드라인M" panose="02030600000101010101" pitchFamily="18" charset="-127"/>
              </a:rPr>
              <a:t> </a:t>
            </a:r>
            <a:endParaRPr lang="ko-KR" altLang="en-US" sz="14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3E09A-705D-38DF-2A63-24B61E124624}"/>
              </a:ext>
            </a:extLst>
          </p:cNvPr>
          <p:cNvSpPr txBox="1"/>
          <p:nvPr/>
        </p:nvSpPr>
        <p:spPr>
          <a:xfrm>
            <a:off x="8494408" y="5433239"/>
            <a:ext cx="962970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b="1" dirty="0" smtClean="0">
                <a:latin typeface="+mn-ea"/>
              </a:rPr>
              <a:t>offline</a:t>
            </a:r>
            <a:r>
              <a:rPr lang="en-US" altLang="ko-KR" sz="2000" b="1" dirty="0" smtClean="0">
                <a:latin typeface="+mj-lt"/>
                <a:ea typeface="HY헤드라인M" panose="02030600000101010101" pitchFamily="18" charset="-127"/>
              </a:rPr>
              <a:t> </a:t>
            </a:r>
            <a:endParaRPr lang="ko-KR" altLang="en-US" sz="2000" b="1" dirty="0">
              <a:latin typeface="+mj-lt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5713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09C49-8FEF-2007-ABA3-C59FED678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761716-EFFE-DC40-B5C3-E2B8451AA0DA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7C069F-214E-C942-333D-A5AFC4BE35E4}"/>
              </a:ext>
            </a:extLst>
          </p:cNvPr>
          <p:cNvSpPr txBox="1"/>
          <p:nvPr/>
        </p:nvSpPr>
        <p:spPr>
          <a:xfrm>
            <a:off x="5961162" y="635295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601DB6-29FA-6DDB-2F28-A6F60E9C4AF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432F7-555B-2290-7164-D16060A5DED1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1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문제 정의 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D3E09A-705D-38DF-2A63-24B61E124624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>
                <a:latin typeface="+mj-ea"/>
                <a:ea typeface="+mj-ea"/>
              </a:rPr>
              <a:t>· </a:t>
            </a:r>
            <a:r>
              <a:rPr lang="ko-KR" altLang="en-US" sz="1400" b="1" dirty="0" smtClean="0">
                <a:latin typeface="+mj-ea"/>
                <a:ea typeface="+mj-ea"/>
              </a:rPr>
              <a:t>목표</a:t>
            </a:r>
            <a:endParaRPr lang="ko-KR" altLang="en-US" sz="1400" b="1" dirty="0">
              <a:latin typeface="+mj-ea"/>
              <a:ea typeface="+mj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98" y="1973496"/>
            <a:ext cx="4526099" cy="254758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3091" y="1974128"/>
            <a:ext cx="4529041" cy="25475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D3E09A-705D-38DF-2A63-24B61E124624}"/>
              </a:ext>
            </a:extLst>
          </p:cNvPr>
          <p:cNvSpPr txBox="1"/>
          <p:nvPr/>
        </p:nvSpPr>
        <p:spPr>
          <a:xfrm>
            <a:off x="2797784" y="5333539"/>
            <a:ext cx="6899643" cy="529057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ko-KR" altLang="en-US" sz="2000" b="1" dirty="0" smtClean="0">
                <a:latin typeface="+mj-ea"/>
                <a:ea typeface="+mj-ea"/>
              </a:rPr>
              <a:t>목표</a:t>
            </a:r>
            <a:r>
              <a:rPr lang="en-US" altLang="ko-KR" sz="2000" b="1" dirty="0" smtClean="0">
                <a:latin typeface="+mj-ea"/>
                <a:ea typeface="+mj-ea"/>
              </a:rPr>
              <a:t>:</a:t>
            </a:r>
            <a:r>
              <a:rPr lang="ko-KR" altLang="en-US" sz="2000" b="1" dirty="0" smtClean="0">
                <a:latin typeface="+mj-ea"/>
                <a:ea typeface="+mj-ea"/>
              </a:rPr>
              <a:t> 사람의 입술 구조를 고려한 입술 발색 생성 모델 학습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D3E09A-705D-38DF-2A63-24B61E124624}"/>
              </a:ext>
            </a:extLst>
          </p:cNvPr>
          <p:cNvSpPr txBox="1"/>
          <p:nvPr/>
        </p:nvSpPr>
        <p:spPr>
          <a:xfrm>
            <a:off x="2474723" y="4671521"/>
            <a:ext cx="1558851" cy="24585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ko-KR" altLang="en-US" sz="1400" b="1" dirty="0" err="1" smtClean="0">
                <a:latin typeface="+mj-ea"/>
                <a:ea typeface="+mj-ea"/>
              </a:rPr>
              <a:t>립제품</a:t>
            </a:r>
            <a:r>
              <a:rPr lang="ko-KR" altLang="en-US" sz="1400" b="1" dirty="0" smtClean="0">
                <a:latin typeface="+mj-ea"/>
                <a:ea typeface="+mj-ea"/>
              </a:rPr>
              <a:t> 바르기 전</a:t>
            </a:r>
            <a:endParaRPr lang="ko-KR" altLang="en-US" sz="1400" b="1" dirty="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D3E09A-705D-38DF-2A63-24B61E124624}"/>
              </a:ext>
            </a:extLst>
          </p:cNvPr>
          <p:cNvSpPr txBox="1"/>
          <p:nvPr/>
        </p:nvSpPr>
        <p:spPr>
          <a:xfrm>
            <a:off x="7998187" y="4635201"/>
            <a:ext cx="1558851" cy="245850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ko-KR" altLang="en-US" sz="1400" b="1" dirty="0" err="1" smtClean="0">
                <a:latin typeface="+mj-ea"/>
                <a:ea typeface="+mj-ea"/>
              </a:rPr>
              <a:t>립제품</a:t>
            </a:r>
            <a:r>
              <a:rPr lang="ko-KR" altLang="en-US" sz="1400" b="1" dirty="0" smtClean="0">
                <a:latin typeface="+mj-ea"/>
                <a:ea typeface="+mj-ea"/>
              </a:rPr>
              <a:t> 바르기 후</a:t>
            </a:r>
            <a:endParaRPr lang="ko-KR" altLang="en-US" sz="1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24447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8AD408-EC9C-1B4A-8D99-1BE37B4D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72159614-47EA-ED07-7ADB-EB3593001EFF}"/>
              </a:ext>
            </a:extLst>
          </p:cNvPr>
          <p:cNvSpPr txBox="1"/>
          <p:nvPr/>
        </p:nvSpPr>
        <p:spPr>
          <a:xfrm>
            <a:off x="1064795" y="557952"/>
            <a:ext cx="1664238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9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19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1B2472-88C2-252C-7628-EED1F3BA0AB5}"/>
              </a:ext>
            </a:extLst>
          </p:cNvPr>
          <p:cNvSpPr txBox="1"/>
          <p:nvPr/>
        </p:nvSpPr>
        <p:spPr>
          <a:xfrm>
            <a:off x="3155854" y="2318352"/>
            <a:ext cx="6223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spc="-300" dirty="0" smtClean="0">
                <a:solidFill>
                  <a:schemeClr val="bg1"/>
                </a:solidFill>
                <a:latin typeface="+mn-ea"/>
              </a:rPr>
              <a:t>데이터 수집 </a:t>
            </a:r>
            <a:r>
              <a:rPr lang="en-US" altLang="ko-KR" sz="4800" b="1" spc="-300" dirty="0" smtClean="0">
                <a:solidFill>
                  <a:schemeClr val="bg1"/>
                </a:solidFill>
                <a:latin typeface="+mn-ea"/>
              </a:rPr>
              <a:t>&amp; </a:t>
            </a:r>
            <a:r>
              <a:rPr lang="ko-KR" altLang="en-US" sz="4800" b="1" spc="-300" dirty="0" smtClean="0">
                <a:solidFill>
                  <a:schemeClr val="bg1"/>
                </a:solidFill>
                <a:latin typeface="+mn-ea"/>
              </a:rPr>
              <a:t>전처리</a:t>
            </a:r>
            <a:endParaRPr lang="en-US" altLang="ko-KR" sz="4800" b="1" spc="-3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2CB1141-8B25-2A6F-3C27-162A9957E82C}"/>
              </a:ext>
            </a:extLst>
          </p:cNvPr>
          <p:cNvCxnSpPr>
            <a:cxnSpLocks/>
          </p:cNvCxnSpPr>
          <p:nvPr/>
        </p:nvCxnSpPr>
        <p:spPr>
          <a:xfrm>
            <a:off x="342900" y="3440520"/>
            <a:ext cx="118491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D7EC679-285E-349B-5F84-7B2FDE548975}"/>
              </a:ext>
            </a:extLst>
          </p:cNvPr>
          <p:cNvCxnSpPr>
            <a:cxnSpLocks/>
          </p:cNvCxnSpPr>
          <p:nvPr/>
        </p:nvCxnSpPr>
        <p:spPr>
          <a:xfrm>
            <a:off x="-21055" y="3689173"/>
            <a:ext cx="11889205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398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C3B4-22F8-5846-E971-C7FB0832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33FF36-2D01-A854-495D-2A35A9F289B5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A2665F-A970-9AE3-12E8-96031168131F}"/>
              </a:ext>
            </a:extLst>
          </p:cNvPr>
          <p:cNvSpPr txBox="1"/>
          <p:nvPr/>
        </p:nvSpPr>
        <p:spPr>
          <a:xfrm>
            <a:off x="5961162" y="635295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5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4F9937-CA3D-F8F2-66D0-21B6F02DB1A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98CA5-9516-1E8F-BDF2-7BBEE2C8103B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2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데이터 수집 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&amp;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 전처리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>
                <a:latin typeface="+mn-ea"/>
              </a:rPr>
              <a:t>· </a:t>
            </a:r>
            <a:r>
              <a:rPr lang="ko-KR" altLang="en-US" sz="1400" b="1" dirty="0" smtClean="0">
                <a:latin typeface="+mn-ea"/>
              </a:rPr>
              <a:t>제품 선정</a:t>
            </a:r>
            <a:endParaRPr lang="ko-KR" altLang="en-US" sz="1400" b="1" dirty="0"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4" y="3260247"/>
            <a:ext cx="3696434" cy="279317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3" y="1698745"/>
            <a:ext cx="4241557" cy="156150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4765429" y="3068516"/>
            <a:ext cx="5231425" cy="546778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000" b="1" dirty="0">
                <a:latin typeface="+mn-ea"/>
              </a:rPr>
              <a:t>· </a:t>
            </a:r>
            <a:r>
              <a:rPr lang="ko-KR" altLang="en-US" sz="2000" b="1" dirty="0" err="1" smtClean="0">
                <a:latin typeface="+mn-ea"/>
              </a:rPr>
              <a:t>롬앤</a:t>
            </a:r>
            <a:r>
              <a:rPr lang="ko-KR" altLang="en-US" sz="2000" b="1" dirty="0" smtClean="0">
                <a:latin typeface="+mn-ea"/>
              </a:rPr>
              <a:t> 더 </a:t>
            </a:r>
            <a:r>
              <a:rPr lang="ko-KR" altLang="en-US" sz="2000" b="1" dirty="0" err="1" smtClean="0">
                <a:latin typeface="+mn-ea"/>
              </a:rPr>
              <a:t>쥬시래스팅</a:t>
            </a:r>
            <a:r>
              <a:rPr lang="ko-KR" altLang="en-US" sz="2000" b="1" dirty="0" smtClean="0">
                <a:latin typeface="+mn-ea"/>
              </a:rPr>
              <a:t> </a:t>
            </a:r>
            <a:r>
              <a:rPr lang="ko-KR" altLang="en-US" sz="2000" b="1" dirty="0" err="1" smtClean="0">
                <a:latin typeface="+mn-ea"/>
              </a:rPr>
              <a:t>틴트</a:t>
            </a:r>
            <a:r>
              <a:rPr lang="ko-KR" altLang="en-US" sz="2000" b="1" dirty="0" smtClean="0">
                <a:latin typeface="+mn-ea"/>
              </a:rPr>
              <a:t> </a:t>
            </a:r>
            <a:r>
              <a:rPr lang="en-US" altLang="ko-KR" sz="2000" b="1" dirty="0" smtClean="0">
                <a:latin typeface="+mn-ea"/>
              </a:rPr>
              <a:t>3</a:t>
            </a:r>
            <a:r>
              <a:rPr lang="ko-KR" altLang="en-US" sz="2000" b="1" dirty="0" smtClean="0">
                <a:latin typeface="+mn-ea"/>
              </a:rPr>
              <a:t>호 </a:t>
            </a:r>
            <a:r>
              <a:rPr lang="ko-KR" altLang="en-US" sz="2000" b="1" dirty="0" err="1" smtClean="0">
                <a:latin typeface="+mn-ea"/>
              </a:rPr>
              <a:t>베어그레이프</a:t>
            </a:r>
            <a:endParaRPr lang="ko-KR" altLang="en-US" sz="20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32431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C3B4-22F8-5846-E971-C7FB0832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33FF36-2D01-A854-495D-2A35A9F289B5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A2665F-A970-9AE3-12E8-96031168131F}"/>
              </a:ext>
            </a:extLst>
          </p:cNvPr>
          <p:cNvSpPr txBox="1"/>
          <p:nvPr/>
        </p:nvSpPr>
        <p:spPr>
          <a:xfrm>
            <a:off x="5961162" y="635295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6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4F9937-CA3D-F8F2-66D0-21B6F02DB1A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98CA5-9516-1E8F-BDF2-7BBEE2C8103B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2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데이터 수집 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&amp;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 전처리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>
                <a:latin typeface="+mn-ea"/>
              </a:rPr>
              <a:t>· </a:t>
            </a:r>
            <a:r>
              <a:rPr lang="ko-KR" altLang="en-US" sz="1400" b="1" dirty="0" smtClean="0">
                <a:latin typeface="+mn-ea"/>
              </a:rPr>
              <a:t>입술 발색 이미지</a:t>
            </a:r>
            <a:endParaRPr lang="ko-KR" altLang="en-US" sz="1400" b="1" dirty="0">
              <a:latin typeface="+mn-ea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65" y="1921510"/>
            <a:ext cx="4845098" cy="2887148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8317" y="1918741"/>
            <a:ext cx="3402645" cy="2889917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7421" y="3362315"/>
            <a:ext cx="57158" cy="1333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9821" y="3514715"/>
            <a:ext cx="57158" cy="1333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3022431" y="4979992"/>
            <a:ext cx="1032365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 smtClean="0">
                <a:latin typeface="+mn-ea"/>
              </a:rPr>
              <a:t>YOUTUBE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8113456" y="4979992"/>
            <a:ext cx="1032365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 smtClean="0">
                <a:latin typeface="+mn-ea"/>
              </a:rPr>
              <a:t>NAVER</a:t>
            </a: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5751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C3B4-22F8-5846-E971-C7FB0832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33FF36-2D01-A854-495D-2A35A9F289B5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A2665F-A970-9AE3-12E8-96031168131F}"/>
              </a:ext>
            </a:extLst>
          </p:cNvPr>
          <p:cNvSpPr txBox="1"/>
          <p:nvPr/>
        </p:nvSpPr>
        <p:spPr>
          <a:xfrm>
            <a:off x="5961163" y="6352959"/>
            <a:ext cx="2744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7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4F9937-CA3D-F8F2-66D0-21B6F02DB1A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98CA5-9516-1E8F-BDF2-7BBEE2C8103B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2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데이터 수집 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&amp;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 전처리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>
                <a:latin typeface="+mn-ea"/>
              </a:rPr>
              <a:t>· </a:t>
            </a:r>
            <a:r>
              <a:rPr lang="en-US" altLang="ko-KR" sz="1400" b="1" dirty="0" smtClean="0">
                <a:latin typeface="+mn-ea"/>
              </a:rPr>
              <a:t>mask </a:t>
            </a:r>
            <a:r>
              <a:rPr lang="ko-KR" altLang="en-US" sz="1400" b="1" dirty="0" smtClean="0">
                <a:latin typeface="+mn-ea"/>
              </a:rPr>
              <a:t>이미지</a:t>
            </a:r>
            <a:endParaRPr lang="ko-KR" altLang="en-US" sz="1400" b="1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421" y="3362315"/>
            <a:ext cx="57158" cy="1333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1" y="3514715"/>
            <a:ext cx="57158" cy="13336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63" y="1909830"/>
            <a:ext cx="3698385" cy="267719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3702" y="1909830"/>
            <a:ext cx="3730172" cy="26771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2632868" y="4975898"/>
            <a:ext cx="3320459" cy="505078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 smtClean="0">
                <a:latin typeface="+mn-ea"/>
              </a:rPr>
              <a:t>Meta</a:t>
            </a:r>
            <a:r>
              <a:rPr lang="ko-KR" altLang="en-US" sz="1400" b="1" dirty="0" smtClean="0">
                <a:latin typeface="+mn-ea"/>
              </a:rPr>
              <a:t>의 </a:t>
            </a:r>
            <a:r>
              <a:rPr lang="en-US" altLang="ko-KR" sz="1400" b="1" dirty="0" smtClean="0">
                <a:latin typeface="+mn-ea"/>
              </a:rPr>
              <a:t>SAM</a:t>
            </a:r>
            <a:r>
              <a:rPr lang="ko-KR" altLang="en-US" sz="1400" b="1" dirty="0" smtClean="0">
                <a:latin typeface="+mn-ea"/>
              </a:rPr>
              <a:t>을 활용하여 </a:t>
            </a:r>
            <a:r>
              <a:rPr lang="en-US" altLang="ko-KR" sz="1400" b="1" dirty="0" smtClean="0">
                <a:latin typeface="+mn-ea"/>
              </a:rPr>
              <a:t>1</a:t>
            </a:r>
            <a:r>
              <a:rPr lang="ko-KR" altLang="en-US" sz="1400" b="1" dirty="0" smtClean="0">
                <a:latin typeface="+mn-ea"/>
              </a:rPr>
              <a:t>차 </a:t>
            </a:r>
            <a:r>
              <a:rPr lang="en-US" altLang="ko-KR" sz="1400" b="1" dirty="0" smtClean="0">
                <a:latin typeface="+mn-ea"/>
              </a:rPr>
              <a:t>masking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6601584" y="4975898"/>
            <a:ext cx="2829288" cy="505078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ko-KR" altLang="en-US" sz="1400" b="1" dirty="0" smtClean="0">
                <a:latin typeface="+mn-ea"/>
              </a:rPr>
              <a:t>포토샵을 활용하여 </a:t>
            </a:r>
            <a:r>
              <a:rPr lang="en-US" altLang="ko-KR" sz="1400" b="1" dirty="0">
                <a:latin typeface="+mn-ea"/>
              </a:rPr>
              <a:t>2</a:t>
            </a:r>
            <a:r>
              <a:rPr lang="ko-KR" altLang="en-US" sz="1400" b="1" dirty="0" smtClean="0">
                <a:latin typeface="+mn-ea"/>
              </a:rPr>
              <a:t>차 </a:t>
            </a:r>
            <a:r>
              <a:rPr lang="en-US" altLang="ko-KR" sz="1400" b="1" dirty="0" smtClean="0">
                <a:latin typeface="+mn-ea"/>
              </a:rPr>
              <a:t>masking</a:t>
            </a:r>
            <a:endParaRPr lang="ko-KR" altLang="en-US" sz="1400" b="1" dirty="0">
              <a:latin typeface="+mn-ea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6"/>
          <a:srcRect l="2206" t="7877" r="3477" b="2957"/>
          <a:stretch/>
        </p:blipFill>
        <p:spPr>
          <a:xfrm>
            <a:off x="4293098" y="1909830"/>
            <a:ext cx="3802934" cy="267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1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C3B4-22F8-5846-E971-C7FB0832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33FF36-2D01-A854-495D-2A35A9F289B5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A2665F-A970-9AE3-12E8-96031168131F}"/>
              </a:ext>
            </a:extLst>
          </p:cNvPr>
          <p:cNvSpPr txBox="1"/>
          <p:nvPr/>
        </p:nvSpPr>
        <p:spPr>
          <a:xfrm>
            <a:off x="5961162" y="635295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8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4F9937-CA3D-F8F2-66D0-21B6F02DB1A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98CA5-9516-1E8F-BDF2-7BBEE2C8103B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2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데이터 수집 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&amp;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 전처리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>
                <a:latin typeface="+mn-ea"/>
              </a:rPr>
              <a:t>· </a:t>
            </a:r>
            <a:r>
              <a:rPr lang="en-US" altLang="ko-KR" sz="1400" b="1" dirty="0" smtClean="0">
                <a:latin typeface="+mn-ea"/>
              </a:rPr>
              <a:t>ground truth </a:t>
            </a:r>
            <a:r>
              <a:rPr lang="ko-KR" altLang="en-US" sz="1400" b="1" dirty="0" smtClean="0">
                <a:latin typeface="+mn-ea"/>
              </a:rPr>
              <a:t>이미지</a:t>
            </a:r>
            <a:endParaRPr lang="ko-KR" altLang="en-US" sz="1400" b="1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421" y="3362315"/>
            <a:ext cx="57158" cy="1333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1" y="3514715"/>
            <a:ext cx="57158" cy="133369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392" y="1879642"/>
            <a:ext cx="3698385" cy="267719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5221039" y="5059634"/>
            <a:ext cx="2053134" cy="55491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 smtClean="0">
                <a:latin typeface="+mn-ea"/>
              </a:rPr>
              <a:t>HSV + Gaussian </a:t>
            </a:r>
            <a:r>
              <a:rPr lang="en-US" altLang="ko-KR" sz="1400" b="1" dirty="0" err="1" smtClean="0">
                <a:latin typeface="+mn-ea"/>
              </a:rPr>
              <a:t>blurr</a:t>
            </a:r>
            <a:endParaRPr lang="ko-KR" altLang="en-US" sz="1400" b="1" dirty="0"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223" y="1860989"/>
            <a:ext cx="3730174" cy="267719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2667017" y="4594747"/>
            <a:ext cx="2053134" cy="55491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b="1" dirty="0" smtClean="0">
                <a:latin typeface="+mn-ea"/>
              </a:rPr>
              <a:t>발색 입술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7487743" y="4599321"/>
            <a:ext cx="2053134" cy="55491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pPr algn="ctr"/>
            <a:r>
              <a:rPr lang="ko-KR" altLang="en-US" sz="1400" b="1" dirty="0" err="1" smtClean="0">
                <a:latin typeface="+mn-ea"/>
              </a:rPr>
              <a:t>맨입술</a:t>
            </a: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511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C3B4-22F8-5846-E971-C7FB0832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33FF36-2D01-A854-495D-2A35A9F289B5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A2665F-A970-9AE3-12E8-96031168131F}"/>
              </a:ext>
            </a:extLst>
          </p:cNvPr>
          <p:cNvSpPr txBox="1"/>
          <p:nvPr/>
        </p:nvSpPr>
        <p:spPr>
          <a:xfrm>
            <a:off x="5961162" y="6352959"/>
            <a:ext cx="2744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9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4F9937-CA3D-F8F2-66D0-21B6F02DB1A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98CA5-9516-1E8F-BDF2-7BBEE2C8103B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2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데이터 수집 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&amp;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 전처리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>
                <a:latin typeface="+mn-ea"/>
              </a:rPr>
              <a:t>· </a:t>
            </a:r>
            <a:r>
              <a:rPr lang="en-US" altLang="ko-KR" sz="1400" b="1" dirty="0" smtClean="0">
                <a:latin typeface="+mn-ea"/>
              </a:rPr>
              <a:t>Augmentation</a:t>
            </a:r>
            <a:endParaRPr lang="ko-KR" altLang="en-US" sz="1400" b="1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421" y="3362315"/>
            <a:ext cx="57158" cy="1333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1" y="3514715"/>
            <a:ext cx="57158" cy="13336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678" y="1487016"/>
            <a:ext cx="3711262" cy="3673158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6979" y="1487016"/>
            <a:ext cx="3711262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810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C3B4-22F8-5846-E971-C7FB0832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D833FF36-2D01-A854-495D-2A35A9F289B5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A2665F-A970-9AE3-12E8-96031168131F}"/>
              </a:ext>
            </a:extLst>
          </p:cNvPr>
          <p:cNvSpPr txBox="1"/>
          <p:nvPr/>
        </p:nvSpPr>
        <p:spPr>
          <a:xfrm>
            <a:off x="5916278" y="6352959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10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4F9937-CA3D-F8F2-66D0-21B6F02DB1A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198CA5-9516-1E8F-BDF2-7BBEE2C8103B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2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데이터 수집 </a:t>
            </a:r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&amp;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 전처리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20019-DC92-4007-C3D1-5EDFBED08565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 smtClean="0">
                <a:latin typeface="+mn-ea"/>
              </a:rPr>
              <a:t>· padding</a:t>
            </a:r>
            <a:endParaRPr lang="ko-KR" altLang="en-US" sz="1400" b="1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421" y="3362315"/>
            <a:ext cx="57158" cy="13336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821" y="3514715"/>
            <a:ext cx="57158" cy="133369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910" y="1714067"/>
            <a:ext cx="3698385" cy="267719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705" y="1130366"/>
            <a:ext cx="3844591" cy="384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21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AD09A-BB25-736C-50D3-33DA1E59D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28144778-9178-7435-9C1C-0E1B6551D5D0}"/>
              </a:ext>
            </a:extLst>
          </p:cNvPr>
          <p:cNvSpPr txBox="1"/>
          <p:nvPr/>
        </p:nvSpPr>
        <p:spPr>
          <a:xfrm>
            <a:off x="1064795" y="557952"/>
            <a:ext cx="1664238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9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ko-KR" altLang="en-US" sz="19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FE37C0-2DCA-167A-E68D-AEF5E232D266}"/>
              </a:ext>
            </a:extLst>
          </p:cNvPr>
          <p:cNvSpPr txBox="1"/>
          <p:nvPr/>
        </p:nvSpPr>
        <p:spPr>
          <a:xfrm>
            <a:off x="3344767" y="2598003"/>
            <a:ext cx="6223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spc="-300" dirty="0" smtClean="0">
                <a:solidFill>
                  <a:schemeClr val="bg1"/>
                </a:solidFill>
                <a:latin typeface="+mn-ea"/>
              </a:rPr>
              <a:t>모델</a:t>
            </a:r>
            <a:endParaRPr lang="en-US" altLang="ko-KR" sz="4800" b="1" spc="-3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3622547-3FCA-C8C0-595B-5B155E19DE9A}"/>
              </a:ext>
            </a:extLst>
          </p:cNvPr>
          <p:cNvCxnSpPr>
            <a:cxnSpLocks/>
          </p:cNvCxnSpPr>
          <p:nvPr/>
        </p:nvCxnSpPr>
        <p:spPr>
          <a:xfrm>
            <a:off x="342900" y="3440520"/>
            <a:ext cx="118491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C169E4B-BBDC-3C0C-7729-6C797333C2EB}"/>
              </a:ext>
            </a:extLst>
          </p:cNvPr>
          <p:cNvCxnSpPr>
            <a:cxnSpLocks/>
          </p:cNvCxnSpPr>
          <p:nvPr/>
        </p:nvCxnSpPr>
        <p:spPr>
          <a:xfrm>
            <a:off x="-21055" y="3689173"/>
            <a:ext cx="11889205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6564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5D69-F1E0-CEEF-C111-EBC627328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AAA93D-74BE-1506-4ECA-720EA0A6E50E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3F4BC-8283-B9E3-87AE-3F4F4359462A}"/>
              </a:ext>
            </a:extLst>
          </p:cNvPr>
          <p:cNvSpPr txBox="1"/>
          <p:nvPr/>
        </p:nvSpPr>
        <p:spPr>
          <a:xfrm>
            <a:off x="5916278" y="6352959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11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6CF0A4-161E-F627-5BC3-153537D61BD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8D497-1149-A6A2-DC1E-D0853EE13652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3.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모델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BC0B9-12AA-597A-A478-7FD0AF410E61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>
                <a:latin typeface="+mj-lt"/>
                <a:ea typeface="HY헤드라인M" panose="02030600000101010101" pitchFamily="18" charset="-127"/>
              </a:rPr>
              <a:t>· </a:t>
            </a:r>
            <a:r>
              <a:rPr lang="en-US" altLang="ko-KR" sz="1400" b="1" dirty="0" smtClean="0">
                <a:latin typeface="+mj-lt"/>
                <a:ea typeface="HY헤드라인M" panose="02030600000101010101" pitchFamily="18" charset="-127"/>
              </a:rPr>
              <a:t>pix2pix</a:t>
            </a:r>
            <a:endParaRPr lang="ko-KR" altLang="en-US" sz="14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8" name="AutoShape 2" descr="https://www.researchgate.net/profile/Alexandre-Maul/publication/366356027/figure/fig32/AS:11431281108033933@1671212033231/Schematic-representation-of-the-pix2pix-network-architectur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4" descr="https://www.researchgate.net/profile/Alexandre-Maul/publication/366356027/figure/fig32/AS:11431281108033933@1671212033231/Schematic-representation-of-the-pix2pix-network-architecture.jpg"/>
          <p:cNvSpPr>
            <a:spLocks noChangeAspect="1" noChangeArrowheads="1"/>
          </p:cNvSpPr>
          <p:nvPr/>
        </p:nvSpPr>
        <p:spPr bwMode="auto">
          <a:xfrm>
            <a:off x="307975" y="7937"/>
            <a:ext cx="3782762" cy="378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https://www.researchgate.net/profile/Alexandre-Maul/publication/366356027/figure/fig32/AS:11431281108033933@1671212033231/Schematic-representation-of-the-pix2pix-network-architecture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980" y="1268413"/>
            <a:ext cx="6888040" cy="469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9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5D69-F1E0-CEEF-C111-EBC627328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AAA93D-74BE-1506-4ECA-720EA0A6E50E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3F4BC-8283-B9E3-87AE-3F4F4359462A}"/>
              </a:ext>
            </a:extLst>
          </p:cNvPr>
          <p:cNvSpPr txBox="1"/>
          <p:nvPr/>
        </p:nvSpPr>
        <p:spPr>
          <a:xfrm>
            <a:off x="5928287" y="631724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12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6CF0A4-161E-F627-5BC3-153537D61BD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8D497-1149-A6A2-DC1E-D0853EE13652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3.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모델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BC0B9-12AA-597A-A478-7FD0AF410E61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>
                <a:latin typeface="+mj-lt"/>
                <a:ea typeface="HY헤드라인M" panose="02030600000101010101" pitchFamily="18" charset="-127"/>
              </a:rPr>
              <a:t>· </a:t>
            </a:r>
            <a:r>
              <a:rPr lang="en-US" altLang="ko-KR" sz="1400" b="1" dirty="0" smtClean="0">
                <a:latin typeface="+mj-lt"/>
                <a:ea typeface="HY헤드라인M" panose="02030600000101010101" pitchFamily="18" charset="-127"/>
              </a:rPr>
              <a:t>pix2pix</a:t>
            </a:r>
            <a:endParaRPr lang="ko-KR" altLang="en-US" sz="14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8" name="AutoShape 2" descr="https://www.researchgate.net/profile/Alexandre-Maul/publication/366356027/figure/fig32/AS:11431281108033933@1671212033231/Schematic-representation-of-the-pix2pix-network-architectur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4" descr="https://www.researchgate.net/profile/Alexandre-Maul/publication/366356027/figure/fig32/AS:11431281108033933@1671212033231/Schematic-representation-of-the-pix2pix-network-architecture.jpg"/>
          <p:cNvSpPr>
            <a:spLocks noChangeAspect="1" noChangeArrowheads="1"/>
          </p:cNvSpPr>
          <p:nvPr/>
        </p:nvSpPr>
        <p:spPr bwMode="auto">
          <a:xfrm>
            <a:off x="307975" y="7937"/>
            <a:ext cx="3782762" cy="378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https://www.researchgate.net/profile/Alexandre-Maul/publication/366356027/figure/fig32/AS:11431281108033933@1671212033231/Schematic-representation-of-the-pix2pix-network-architecture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270" y="1051169"/>
            <a:ext cx="7692457" cy="512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454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75D69-F1E0-CEEF-C111-EBC627328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11AAA93D-74BE-1506-4ECA-720EA0A6E50E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23F4BC-8283-B9E3-87AE-3F4F4359462A}"/>
              </a:ext>
            </a:extLst>
          </p:cNvPr>
          <p:cNvSpPr txBox="1"/>
          <p:nvPr/>
        </p:nvSpPr>
        <p:spPr>
          <a:xfrm>
            <a:off x="5928287" y="6317246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13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6CF0A4-161E-F627-5BC3-153537D61BD2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78D497-1149-A6A2-DC1E-D0853EE13652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 smtClean="0">
                <a:latin typeface="+mj-lt"/>
                <a:ea typeface="HY헤드라인M" panose="02030600000101010101" pitchFamily="18" charset="-127"/>
              </a:rPr>
              <a:t>3.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모델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2BC0B9-12AA-597A-A478-7FD0AF410E61}"/>
              </a:ext>
            </a:extLst>
          </p:cNvPr>
          <p:cNvSpPr txBox="1"/>
          <p:nvPr/>
        </p:nvSpPr>
        <p:spPr>
          <a:xfrm>
            <a:off x="638174" y="908050"/>
            <a:ext cx="11218864" cy="360363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1400" b="1" dirty="0">
                <a:latin typeface="+mj-lt"/>
                <a:ea typeface="HY헤드라인M" panose="02030600000101010101" pitchFamily="18" charset="-127"/>
              </a:rPr>
              <a:t>· </a:t>
            </a:r>
            <a:r>
              <a:rPr lang="en-US" altLang="ko-KR" sz="1400" b="1" dirty="0" smtClean="0">
                <a:latin typeface="+mj-lt"/>
                <a:ea typeface="HY헤드라인M" panose="02030600000101010101" pitchFamily="18" charset="-127"/>
              </a:rPr>
              <a:t>loss </a:t>
            </a:r>
            <a:r>
              <a:rPr lang="en-US" altLang="ko-KR" sz="1400" b="1" dirty="0" err="1" smtClean="0">
                <a:latin typeface="+mj-lt"/>
                <a:ea typeface="HY헤드라인M" panose="02030600000101010101" pitchFamily="18" charset="-127"/>
              </a:rPr>
              <a:t>funtion</a:t>
            </a:r>
            <a:endParaRPr lang="ko-KR" altLang="en-US" sz="14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8" name="AutoShape 2" descr="https://www.researchgate.net/profile/Alexandre-Maul/publication/366356027/figure/fig32/AS:11431281108033933@1671212033231/Schematic-representation-of-the-pix2pix-network-architecture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4" descr="https://www.researchgate.net/profile/Alexandre-Maul/publication/366356027/figure/fig32/AS:11431281108033933@1671212033231/Schematic-representation-of-the-pix2pix-network-architecture.jpg"/>
          <p:cNvSpPr>
            <a:spLocks noChangeAspect="1" noChangeArrowheads="1"/>
          </p:cNvSpPr>
          <p:nvPr/>
        </p:nvSpPr>
        <p:spPr bwMode="auto">
          <a:xfrm>
            <a:off x="307975" y="7937"/>
            <a:ext cx="3782762" cy="378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https://www.researchgate.net/profile/Alexandre-Maul/publication/366356027/figure/fig32/AS:11431281108033933@1671212033231/Schematic-representation-of-the-pix2pix-network-architecture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783" y="1451378"/>
            <a:ext cx="6359686" cy="4239791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2804746" y="1268413"/>
            <a:ext cx="6348046" cy="410368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3077308" y="1268413"/>
            <a:ext cx="5521569" cy="40773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39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93900-820A-8230-ECEB-A64B54D1A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B6723178-9C20-B99B-3919-8497F62AD2CF}"/>
              </a:ext>
            </a:extLst>
          </p:cNvPr>
          <p:cNvSpPr txBox="1"/>
          <p:nvPr/>
        </p:nvSpPr>
        <p:spPr>
          <a:xfrm>
            <a:off x="1064795" y="557952"/>
            <a:ext cx="1664238" cy="3154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900" b="1" dirty="0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ko-KR" altLang="en-US" sz="19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562BDBD-7B27-7129-0D6E-6B1EA75FC94E}"/>
              </a:ext>
            </a:extLst>
          </p:cNvPr>
          <p:cNvSpPr txBox="1"/>
          <p:nvPr/>
        </p:nvSpPr>
        <p:spPr>
          <a:xfrm>
            <a:off x="3155854" y="2360871"/>
            <a:ext cx="6223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800" b="1" spc="-300" smtClean="0">
                <a:solidFill>
                  <a:schemeClr val="bg1"/>
                </a:solidFill>
                <a:latin typeface="+mn-ea"/>
              </a:rPr>
              <a:t>분석 결과</a:t>
            </a:r>
            <a:endParaRPr lang="en-US" altLang="ko-KR" sz="4800" b="1" spc="-3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C420BF6C-4545-FF81-E6A7-F18D9A87142D}"/>
              </a:ext>
            </a:extLst>
          </p:cNvPr>
          <p:cNvCxnSpPr>
            <a:cxnSpLocks/>
          </p:cNvCxnSpPr>
          <p:nvPr/>
        </p:nvCxnSpPr>
        <p:spPr>
          <a:xfrm>
            <a:off x="342900" y="3440520"/>
            <a:ext cx="118491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3734669F-34B1-055F-5691-76222FBA6C1F}"/>
              </a:ext>
            </a:extLst>
          </p:cNvPr>
          <p:cNvCxnSpPr>
            <a:cxnSpLocks/>
          </p:cNvCxnSpPr>
          <p:nvPr/>
        </p:nvCxnSpPr>
        <p:spPr>
          <a:xfrm>
            <a:off x="-21055" y="3689173"/>
            <a:ext cx="11889205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208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420F-2CF0-7D14-92E1-106135FF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427910-5B17-F2D7-81D8-97644BBAA41F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FC5CF1-A45E-2A5A-4E23-CC7972E1A0CB}"/>
              </a:ext>
            </a:extLst>
          </p:cNvPr>
          <p:cNvSpPr txBox="1"/>
          <p:nvPr/>
        </p:nvSpPr>
        <p:spPr>
          <a:xfrm>
            <a:off x="5916277" y="6352959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14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A4F167-0EEE-56FE-6BBA-735D35902BF0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09067-A592-9100-AA31-3F02A2003D78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4.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분석 결과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07" y="2363338"/>
            <a:ext cx="4038240" cy="212220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3658" y="2358937"/>
            <a:ext cx="3782569" cy="212660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479963" y="972413"/>
            <a:ext cx="3902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정성적 평가 </a:t>
            </a:r>
            <a:r>
              <a:rPr lang="en-US" altLang="ko-KR" dirty="0"/>
              <a:t>(Qualitative Evaluation)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FC5CF1-A45E-2A5A-4E23-CC7972E1A0CB}"/>
              </a:ext>
            </a:extLst>
          </p:cNvPr>
          <p:cNvSpPr txBox="1"/>
          <p:nvPr/>
        </p:nvSpPr>
        <p:spPr>
          <a:xfrm>
            <a:off x="5828135" y="3196994"/>
            <a:ext cx="678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vs</a:t>
            </a: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6404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420F-2CF0-7D14-92E1-106135FF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427910-5B17-F2D7-81D8-97644BBAA41F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FC5CF1-A45E-2A5A-4E23-CC7972E1A0CB}"/>
              </a:ext>
            </a:extLst>
          </p:cNvPr>
          <p:cNvSpPr txBox="1"/>
          <p:nvPr/>
        </p:nvSpPr>
        <p:spPr>
          <a:xfrm>
            <a:off x="5916277" y="6352959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15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A4F167-0EEE-56FE-6BBA-735D35902BF0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09067-A592-9100-AA31-3F02A2003D78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4.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분석 결과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FC5CF1-A45E-2A5A-4E23-CC7972E1A0CB}"/>
              </a:ext>
            </a:extLst>
          </p:cNvPr>
          <p:cNvSpPr txBox="1"/>
          <p:nvPr/>
        </p:nvSpPr>
        <p:spPr>
          <a:xfrm>
            <a:off x="5828135" y="3196994"/>
            <a:ext cx="678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vs</a:t>
            </a:r>
            <a:endParaRPr lang="ko-KR" altLang="en-US" sz="20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904" y="1624602"/>
            <a:ext cx="3599677" cy="359967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30" y="2206249"/>
            <a:ext cx="4079864" cy="2445962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479963" y="972413"/>
            <a:ext cx="39024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정성적 평가 </a:t>
            </a:r>
            <a:r>
              <a:rPr lang="en-US" altLang="ko-KR" dirty="0"/>
              <a:t>(Qualitative Evaluation)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75205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420F-2CF0-7D14-92E1-106135FFB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>
            <a:extLst>
              <a:ext uri="{FF2B5EF4-FFF2-40B4-BE49-F238E27FC236}">
                <a16:creationId xmlns:a16="http://schemas.microsoft.com/office/drawing/2014/main" id="{34427910-5B17-F2D7-81D8-97644BBAA41F}"/>
              </a:ext>
            </a:extLst>
          </p:cNvPr>
          <p:cNvSpPr/>
          <p:nvPr/>
        </p:nvSpPr>
        <p:spPr>
          <a:xfrm>
            <a:off x="0" y="6672263"/>
            <a:ext cx="12192000" cy="185737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FC5CF1-A45E-2A5A-4E23-CC7972E1A0CB}"/>
              </a:ext>
            </a:extLst>
          </p:cNvPr>
          <p:cNvSpPr txBox="1"/>
          <p:nvPr/>
        </p:nvSpPr>
        <p:spPr>
          <a:xfrm>
            <a:off x="5916277" y="6352959"/>
            <a:ext cx="3642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 smtClean="0">
                <a:latin typeface="HY헤드라인M" panose="02030600000101010101" pitchFamily="18" charset="-127"/>
                <a:ea typeface="HY헤드라인M" panose="02030600000101010101" pitchFamily="18" charset="-127"/>
              </a:rPr>
              <a:t>16</a:t>
            </a:r>
            <a:endParaRPr lang="ko-KR" altLang="en-US" sz="12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4A4F167-0EEE-56FE-6BBA-735D35902BF0}"/>
              </a:ext>
            </a:extLst>
          </p:cNvPr>
          <p:cNvSpPr/>
          <p:nvPr/>
        </p:nvSpPr>
        <p:spPr>
          <a:xfrm>
            <a:off x="0" y="200175"/>
            <a:ext cx="336214" cy="718511"/>
          </a:xfrm>
          <a:prstGeom prst="rect">
            <a:avLst/>
          </a:prstGeom>
          <a:solidFill>
            <a:srgbClr val="005B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09067-A592-9100-AA31-3F02A2003D78}"/>
              </a:ext>
            </a:extLst>
          </p:cNvPr>
          <p:cNvSpPr txBox="1"/>
          <p:nvPr/>
        </p:nvSpPr>
        <p:spPr>
          <a:xfrm>
            <a:off x="479963" y="200175"/>
            <a:ext cx="11377073" cy="718511"/>
          </a:xfrm>
          <a:prstGeom prst="rect">
            <a:avLst/>
          </a:prstGeom>
          <a:noFill/>
        </p:spPr>
        <p:txBody>
          <a:bodyPr wrap="none" rtlCol="0" anchor="ctr">
            <a:noAutofit/>
          </a:bodyPr>
          <a:lstStyle/>
          <a:p>
            <a:r>
              <a:rPr lang="en-US" altLang="ko-KR" sz="2800" b="1" dirty="0">
                <a:latin typeface="+mj-lt"/>
                <a:ea typeface="HY헤드라인M" panose="02030600000101010101" pitchFamily="18" charset="-127"/>
              </a:rPr>
              <a:t>4. </a:t>
            </a:r>
            <a:r>
              <a:rPr lang="ko-KR" altLang="en-US" sz="2800" b="1" dirty="0" smtClean="0">
                <a:latin typeface="+mj-lt"/>
                <a:ea typeface="HY헤드라인M" panose="02030600000101010101" pitchFamily="18" charset="-127"/>
              </a:rPr>
              <a:t>분석 결과</a:t>
            </a:r>
            <a:endParaRPr lang="ko-KR" altLang="en-US" sz="2800" b="1" dirty="0">
              <a:latin typeface="+mj-lt"/>
              <a:ea typeface="HY헤드라인M" panose="02030600000101010101" pitchFamily="18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885930" y="1324663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000" b="1" dirty="0" smtClean="0"/>
              <a:t>결론</a:t>
            </a:r>
            <a:endParaRPr lang="ko-KR" altLang="en-US" sz="2000" b="1" dirty="0"/>
          </a:p>
        </p:txBody>
      </p:sp>
      <p:sp>
        <p:nvSpPr>
          <p:cNvPr id="10" name="직사각형 9"/>
          <p:cNvSpPr/>
          <p:nvPr/>
        </p:nvSpPr>
        <p:spPr>
          <a:xfrm>
            <a:off x="885930" y="2130750"/>
            <a:ext cx="662177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/>
              <a:t>Pix2pix </a:t>
            </a:r>
            <a:r>
              <a:rPr lang="ko-KR" altLang="en-US" dirty="0" smtClean="0"/>
              <a:t>모델이 해당 제품의 색을 어느 정도 학습한 것으로 보임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그러나 치명적인 문제점으로 </a:t>
            </a:r>
            <a:r>
              <a:rPr lang="ko-KR" altLang="en-US" dirty="0" err="1" smtClean="0"/>
              <a:t>맨입술의</a:t>
            </a:r>
            <a:r>
              <a:rPr lang="ko-KR" altLang="en-US" dirty="0" smtClean="0"/>
              <a:t> 화질이 높을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생성한 발색 입술의 극명한 </a:t>
            </a:r>
            <a:r>
              <a:rPr lang="ko-KR" altLang="en-US" dirty="0" err="1" smtClean="0"/>
              <a:t>화질저하가</a:t>
            </a:r>
            <a:r>
              <a:rPr lang="ko-KR" altLang="en-US" dirty="0" smtClean="0"/>
              <a:t> 관찰되고 입술의 입체감이 없어지는 것이 관찰됨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ko-KR" altLang="en-US" dirty="0" smtClean="0"/>
              <a:t>이에 후속 방안으로</a:t>
            </a:r>
            <a:r>
              <a:rPr lang="en-US" altLang="ko-KR" dirty="0" smtClean="0"/>
              <a:t>,  </a:t>
            </a:r>
            <a:r>
              <a:rPr lang="en-US" altLang="ko-KR" dirty="0" err="1" smtClean="0"/>
              <a:t>Resnet</a:t>
            </a:r>
            <a:r>
              <a:rPr lang="en-US" altLang="ko-KR" dirty="0" smtClean="0"/>
              <a:t> </a:t>
            </a:r>
            <a:r>
              <a:rPr lang="ko-KR" altLang="en-US" dirty="0" smtClean="0"/>
              <a:t>블록을 채용하는 </a:t>
            </a:r>
            <a:r>
              <a:rPr lang="en-US" altLang="ko-KR" dirty="0" smtClean="0"/>
              <a:t>Pix2PixHD </a:t>
            </a:r>
            <a:r>
              <a:rPr lang="ko-KR" altLang="en-US" dirty="0" smtClean="0"/>
              <a:t>모델을 활용하여 발색 입술의 품질을 향상시킬 수 있을 것으로 기대함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7231562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B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51F052B8-0C43-0731-9308-F0D96A37AFDE}"/>
              </a:ext>
            </a:extLst>
          </p:cNvPr>
          <p:cNvCxnSpPr>
            <a:cxnSpLocks/>
          </p:cNvCxnSpPr>
          <p:nvPr/>
        </p:nvCxnSpPr>
        <p:spPr>
          <a:xfrm>
            <a:off x="342900" y="3440520"/>
            <a:ext cx="118491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0D2DC47B-5614-6839-FF0B-C4E859ACCF22}"/>
              </a:ext>
            </a:extLst>
          </p:cNvPr>
          <p:cNvCxnSpPr>
            <a:cxnSpLocks/>
          </p:cNvCxnSpPr>
          <p:nvPr/>
        </p:nvCxnSpPr>
        <p:spPr>
          <a:xfrm>
            <a:off x="-21055" y="3689173"/>
            <a:ext cx="11889205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C5F1297-2FE8-F0D6-0DF5-021790D90ABE}"/>
              </a:ext>
            </a:extLst>
          </p:cNvPr>
          <p:cNvSpPr txBox="1"/>
          <p:nvPr/>
        </p:nvSpPr>
        <p:spPr>
          <a:xfrm>
            <a:off x="3580350" y="2586035"/>
            <a:ext cx="50429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b="1" spc="-300" dirty="0">
                <a:solidFill>
                  <a:schemeClr val="bg1"/>
                </a:solidFill>
                <a:latin typeface="+mn-ea"/>
              </a:rPr>
              <a:t>Thank you</a:t>
            </a:r>
            <a:endParaRPr lang="ko-KR" altLang="en-US" sz="4800" b="1" spc="-300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8882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37620</TotalTime>
  <Words>303</Words>
  <Application>Microsoft Office PowerPoint</Application>
  <PresentationFormat>와이드스크린</PresentationFormat>
  <Paragraphs>109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HY헤드라인M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LeeChan</dc:creator>
  <cp:lastModifiedBy>유진영</cp:lastModifiedBy>
  <cp:revision>159</cp:revision>
  <dcterms:created xsi:type="dcterms:W3CDTF">2024-03-31T05:28:49Z</dcterms:created>
  <dcterms:modified xsi:type="dcterms:W3CDTF">2025-06-20T18:25:29Z</dcterms:modified>
</cp:coreProperties>
</file>